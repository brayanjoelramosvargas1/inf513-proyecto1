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4afd96d64c146c0" /><Relationship Type="http://schemas.openxmlformats.org/officeDocument/2006/relationships/extended-properties" Target="/docProps/app.xml" Id="R237a7cbef9164f4a" /><Relationship Type="http://schemas.openxmlformats.org/officeDocument/2006/relationships/officeDocument" Target="/ppt/presentation.xml" Id="R97704d54a3234b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2ee9c9e83846fb"/>
  </p:sldMasterIdLst>
  <p:notesMasterIdLst>
    <p:notesMasterId xmlns:r="http://schemas.openxmlformats.org/officeDocument/2006/relationships" r:id="R5503aa57e98f4acb"/>
  </p:notesMasterIdLst>
  <p:sldIdLst>
    <p:sldId xmlns:r="http://schemas.openxmlformats.org/officeDocument/2006/relationships" id="256" r:id="Ref052a3f49d845c9"/>
    <p:sldId xmlns:r="http://schemas.openxmlformats.org/officeDocument/2006/relationships" id="257" r:id="R7f20f9441e604567"/>
    <p:sldId xmlns:r="http://schemas.openxmlformats.org/officeDocument/2006/relationships" id="258" r:id="R4776dd40ce23418f"/>
    <p:sldId xmlns:r="http://schemas.openxmlformats.org/officeDocument/2006/relationships" id="259" r:id="Rac7a3e88ba054ce9"/>
    <p:sldId xmlns:r="http://schemas.openxmlformats.org/officeDocument/2006/relationships" id="260" r:id="R980b747166254a83"/>
    <p:sldId xmlns:r="http://schemas.openxmlformats.org/officeDocument/2006/relationships" id="261" r:id="R5ff8f39befdf4402"/>
    <p:sldId xmlns:r="http://schemas.openxmlformats.org/officeDocument/2006/relationships" id="262" r:id="R93089cc1c1d74399"/>
    <p:sldId xmlns:r="http://schemas.openxmlformats.org/officeDocument/2006/relationships" id="263" r:id="Rb8b284a1f8e54934"/>
    <p:sldId xmlns:r="http://schemas.openxmlformats.org/officeDocument/2006/relationships" id="264" r:id="Read1738a81674507"/>
    <p:sldId xmlns:r="http://schemas.openxmlformats.org/officeDocument/2006/relationships" id="265" r:id="R3f7516db363b42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55c2c242c184c07" /><Relationship Type="http://schemas.openxmlformats.org/officeDocument/2006/relationships/slideMaster" Target="/ppt/slideMasters/slideMaster1.xml" Id="Rb82ee9c9e83846fb" /><Relationship Type="http://schemas.openxmlformats.org/officeDocument/2006/relationships/notesMaster" Target="/ppt/notesMasters/notesMaster1.xml" Id="R5503aa57e98f4acb" /><Relationship Type="http://schemas.openxmlformats.org/officeDocument/2006/relationships/presProps" Target="/ppt/presProps.xml" Id="Rcbcfef5c0f5e458c" /><Relationship Type="http://schemas.openxmlformats.org/officeDocument/2006/relationships/tableStyles" Target="/ppt/tableStyles.xml" Id="R281daffa535a4783" /><Relationship Type="http://schemas.openxmlformats.org/officeDocument/2006/relationships/slide" Target="/ppt/slides/slide1.xml" Id="Ref052a3f49d845c9" /><Relationship Type="http://schemas.openxmlformats.org/officeDocument/2006/relationships/slide" Target="/ppt/slides/slide2.xml" Id="R7f20f9441e604567" /><Relationship Type="http://schemas.openxmlformats.org/officeDocument/2006/relationships/slide" Target="/ppt/slides/slide3.xml" Id="R4776dd40ce23418f" /><Relationship Type="http://schemas.openxmlformats.org/officeDocument/2006/relationships/slide" Target="/ppt/slides/slide4.xml" Id="Rac7a3e88ba054ce9" /><Relationship Type="http://schemas.openxmlformats.org/officeDocument/2006/relationships/slide" Target="/ppt/slides/slide5.xml" Id="R980b747166254a83" /><Relationship Type="http://schemas.openxmlformats.org/officeDocument/2006/relationships/slide" Target="/ppt/slides/slide6.xml" Id="R5ff8f39befdf4402" /><Relationship Type="http://schemas.openxmlformats.org/officeDocument/2006/relationships/slide" Target="/ppt/slides/slide7.xml" Id="R93089cc1c1d74399" /><Relationship Type="http://schemas.openxmlformats.org/officeDocument/2006/relationships/slide" Target="/ppt/slides/slide8.xml" Id="Rb8b284a1f8e54934" /><Relationship Type="http://schemas.openxmlformats.org/officeDocument/2006/relationships/slide" Target="/ppt/slides/slide9.xml" Id="Read1738a81674507" /><Relationship Type="http://schemas.openxmlformats.org/officeDocument/2006/relationships/slide" Target="/ppt/slides/slide10.xml" Id="R3f7516db363b42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cc2490d590b44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c40e76f01b348dc" /><Relationship Type="http://schemas.openxmlformats.org/officeDocument/2006/relationships/notesMaster" Target="/ppt/notesMasters/notesMaster1.xml" Id="R0b15856fa8a446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5b6bf1018e4278" /><Relationship Type="http://schemas.openxmlformats.org/officeDocument/2006/relationships/notesMaster" Target="/ppt/notesMasters/notesMaster1.xml" Id="R147664b2f2ed44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2a6a7559864c2f" /><Relationship Type="http://schemas.openxmlformats.org/officeDocument/2006/relationships/notesMaster" Target="/ppt/notesMasters/notesMaster1.xml" Id="R861d8c1f99714c7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aaeabfb165409b" /><Relationship Type="http://schemas.openxmlformats.org/officeDocument/2006/relationships/notesMaster" Target="/ppt/notesMasters/notesMaster1.xml" Id="R03b195b01de344f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497b34389894bb2" /><Relationship Type="http://schemas.openxmlformats.org/officeDocument/2006/relationships/notesMaster" Target="/ppt/notesMasters/notesMaster1.xml" Id="Rda4d2c91559249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0578defc814db4" /><Relationship Type="http://schemas.openxmlformats.org/officeDocument/2006/relationships/notesMaster" Target="/ppt/notesMasters/notesMaster1.xml" Id="R4f18feceb95d43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833696cba245a1" /><Relationship Type="http://schemas.openxmlformats.org/officeDocument/2006/relationships/notesMaster" Target="/ppt/notesMasters/notesMaster1.xml" Id="R2ff7297951c547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b736facf6464dec" /><Relationship Type="http://schemas.openxmlformats.org/officeDocument/2006/relationships/notesMaster" Target="/ppt/notesMasters/notesMaster1.xml" Id="R7bca43412a0f42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8dd35e590249d9" /><Relationship Type="http://schemas.openxmlformats.org/officeDocument/2006/relationships/notesMaster" Target="/ppt/notesMasters/notesMaster1.xml" Id="Rf6f4bf2c31344d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6608808d924173" /><Relationship Type="http://schemas.openxmlformats.org/officeDocument/2006/relationships/notesMaster" Target="/ppt/notesMasters/notesMaster1.xml" Id="R19cb48b3622047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56c39b93bb493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f55f497a74f1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f93f28500e48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83db1055724c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3bf4976cf9456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178e6736ce4c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97CED6D-E1D8-4017-9E55-841DCFB873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37AE387-3D5E-486A-84F4-482F797AD93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F3C1A3D-B524-46C4-8E66-E3A0A25785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B78918C-034F-4623-8156-6C02F7DB59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5B5FDF-7BBE-4206-9B36-E4CBFB8A595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49F453B-1040-4F3F-BF68-1B4CF402B2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46AD891-EDAF-48E0-B5A2-D29C232B2F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6DAD21D-970B-42C2-9D24-3D2048619D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2D87CF-4516-4556-B796-5C001B3F494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AD9227D-7108-4621-9ED3-CFBAF25003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893d35c9804fce" /><Relationship Type="http://schemas.openxmlformats.org/officeDocument/2006/relationships/slideLayout" Target="/ppt/slideLayouts/slideLayout1.xml" Id="R794c56af50a64b9c" /><Relationship Type="http://schemas.openxmlformats.org/officeDocument/2006/relationships/slideLayout" Target="/ppt/slideLayouts/slideLayout2.xml" Id="R632382177d024083" /><Relationship Type="http://schemas.openxmlformats.org/officeDocument/2006/relationships/slideLayout" Target="/ppt/slideLayouts/slideLayout3.xml" Id="R725da53db0a444e3" /><Relationship Type="http://schemas.openxmlformats.org/officeDocument/2006/relationships/slideLayout" Target="/ppt/slideLayouts/slideLayout4.xml" Id="Rf34ae55cbbd04f52" /><Relationship Type="http://schemas.openxmlformats.org/officeDocument/2006/relationships/slideLayout" Target="/ppt/slideLayouts/slideLayout5.xml" Id="R8f4147ea95d943e8" /><Relationship Type="http://schemas.openxmlformats.org/officeDocument/2006/relationships/slideLayout" Target="/ppt/slideLayouts/slideLayout6.xml" Id="R7cd0a7939b5f44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4c56af50a64b9c"/>
    <p:sldLayoutId xmlns:r="http://schemas.openxmlformats.org/officeDocument/2006/relationships" id="2147483650" r:id="R632382177d024083"/>
    <p:sldLayoutId xmlns:r="http://schemas.openxmlformats.org/officeDocument/2006/relationships" id="2147483651" r:id="R725da53db0a444e3"/>
    <p:sldLayoutId xmlns:r="http://schemas.openxmlformats.org/officeDocument/2006/relationships" id="2147483652" r:id="Rf34ae55cbbd04f52"/>
    <p:sldLayoutId xmlns:r="http://schemas.openxmlformats.org/officeDocument/2006/relationships" id="2147483653" r:id="R8f4147ea95d943e8"/>
    <p:sldLayoutId xmlns:r="http://schemas.openxmlformats.org/officeDocument/2006/relationships" id="2147483654" r:id="R7cd0a7939b5f44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6e528acf9c4e27" /><Relationship Type="http://schemas.openxmlformats.org/officeDocument/2006/relationships/notesSlide" Target="/ppt/notesSlides/notesSlide1.xml" Id="R2269961dc2774a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2d422a3b9745a8" /><Relationship Type="http://schemas.openxmlformats.org/officeDocument/2006/relationships/notesSlide" Target="/ppt/notesSlides/notesSlide2.xml" Id="R28177673730347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1ebee5b84a415a" /><Relationship Type="http://schemas.openxmlformats.org/officeDocument/2006/relationships/notesSlide" Target="/ppt/notesSlides/notesSlide3.xml" Id="R4c6d83e1e00042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24b50b1a67493a" /><Relationship Type="http://schemas.openxmlformats.org/officeDocument/2006/relationships/notesSlide" Target="/ppt/notesSlides/notesSlide4.xml" Id="R63d7c11bc06a413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fc8d08ebd504ca6" /><Relationship Type="http://schemas.openxmlformats.org/officeDocument/2006/relationships/notesSlide" Target="/ppt/notesSlides/notesSlide5.xml" Id="R5caf1001774246b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ef06fc02084e46" /><Relationship Type="http://schemas.openxmlformats.org/officeDocument/2006/relationships/notesSlide" Target="/ppt/notesSlides/notesSlide6.xml" Id="Rfbde8c96759249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acf21034e7429a" /><Relationship Type="http://schemas.openxmlformats.org/officeDocument/2006/relationships/notesSlide" Target="/ppt/notesSlides/notesSlide7.xml" Id="Rf3206103445e4b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8999110ac34cb3" /><Relationship Type="http://schemas.openxmlformats.org/officeDocument/2006/relationships/notesSlide" Target="/ppt/notesSlides/notesSlide8.xml" Id="Rcce796d2e7be42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cf9f0abff543b3" /><Relationship Type="http://schemas.openxmlformats.org/officeDocument/2006/relationships/notesSlide" Target="/ppt/notesSlides/notesSlide9.xml" Id="Rb8da4e44c54b469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4b0fbe08d1494e" /><Relationship Type="http://schemas.openxmlformats.org/officeDocument/2006/relationships/notesSlide" Target="/ppt/notesSlides/notesSlide10.xml" Id="R441ab7ed6c1c4ea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81EE4-0665-4E4D-BD12-D5D302023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125" b="1">
                <a:solidFill>
                  <a:srgbClr val="2F75B5"/>
                </a:solidFill>
              </a:defRPr>
            </a:pPr>
            <a:r>
              <a:rPr sz="1125" b="1">
                <a:solidFill>
                  <a:srgbClr val="2F75B5"/>
                </a:solidFill>
              </a:rPr>
              <a:t>TECNOLOGÍA WEB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1ACA4-C318-431A-83A6-78213E52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7524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4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3450" b="1">
                <a:solidFill>
                  <a:srgbClr val="16202A"/>
                </a:solidFill>
              </a:defRPr>
            </a:pPr>
            <a:r>
              <a:rPr sz="3450" b="1">
                <a:solidFill>
                  <a:srgbClr val="16202A"/>
                </a:solidFill>
              </a:rPr>
              <a:t>Sistema vía correo electrónico para convocatorias de auxiliaturas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0FD37-A4B6-4D6C-BD4F-0E017E486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Proyecto 1   Grupo 09 SA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C63BF3-4683-4730-A26E-BC018869B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781050"/>
            <a:ext cx="2857500" cy="4857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069828-5029-4865-BD44-C43E944CA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190625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Integrantes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E70F1-F4B4-437E-9CD6-5614A7F4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809750"/>
            <a:ext cx="214312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223045888</a:t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Acosta Osorio Lin Fernanda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223043982</a:t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Ramos Vargas Brayan Joel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213114976</a:t>
            </a:r>
          </a:p>
          <a:p xmlns:a="http://schemas.openxmlformats.org/drawingml/2006/main">
            <a:pPr>
              <a:buNone/>
              <a:defRPr sz="1275" b="0">
                <a:solidFill>
                  <a:srgbClr val="FFFFFF"/>
                </a:solidFill>
              </a:defRPr>
            </a:pPr>
            <a:r>
              <a:rPr sz="1275" b="0">
                <a:solidFill>
                  <a:srgbClr val="FFFFFF"/>
                </a:solidFill>
              </a:rPr>
              <a:t>Rodriguez Aguilera Walter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EE2B65-6B8A-44A8-829B-62036EA0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533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Ingeniería Informática</a:t>
            </a:r>
          </a:p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Octubre de 2026</a:t>
            </a:r>
          </a:p>
        </p:txBody>
      </p:sp>
    </p:spTree>
    <p:extLst>
      <p:ext uri="{BB962C8B-B14F-4D97-AF65-F5344CB8AC3E}">
        <p14:creationId xmlns:p14="http://schemas.microsoft.com/office/powerpoint/2010/main" val="855304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456448-5529-4BB5-A1A2-69E5EC7F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F0E7F-79E7-4C92-BFF1-C9CF0C72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Solicitud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228C1C-83B4-4A25-A0B6-24F84A6E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0F461-3F78-459B-BF1F-7B61A81C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67DE00-E325-46BB-B15C-9D9B693BF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85A97-8AAA-4FF3-BBD9-75A494D2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92153-3FA1-4DB1-B710-F9022F3B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2E673-0B4C-4CA5-BA5D-D3055AC87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Entrada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CA21C6-93AB-43AB-9FFC-89CC9B9D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cliente escribe la orden completa en el asunto del correo.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464236-AD93-465D-8160-9CA78F16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A670F-5065-4B4A-9F8B-1B62EE44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03CF45-08B8-4518-A561-A7681307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Procesamiento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132253-31C9-494D-B292-B0AD79AE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Java valida los datos y solicita confirmación para cada operación sensible.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15B70-A666-4441-9FCB-AF7F5D891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095500"/>
          </a:xfrm>
          <a:prstGeom xmlns:a="http://schemas.openxmlformats.org/drawingml/2006/main" prst="roundRect">
            <a:avLst>
              <a:gd name="adj" fmla="val 2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AD0954-310E-45A1-ADF7-EE8687E75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03879C-C068-4491-B035-3EBA5941D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Respuesta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6FAFCB-5193-4D43-90CE-E1FCE2A1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El sistema devuelve ÉXITO o ERROR al mismo remitente.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597E2-E858-4C63-BDB4-A902F0EA3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33875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52606D"/>
                </a:solidFill>
              </a:defRPr>
            </a:pPr>
            <a:r>
              <a:rPr sz="1350" b="1">
                <a:solidFill>
                  <a:srgbClr val="52606D"/>
                </a:solidFill>
              </a:rPr>
              <a:t>Ejemplo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D7A8D7-E3C6-4B73-AE69-72EF9C53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86300"/>
            <a:ext cx="10858500" cy="904875"/>
          </a:xfrm>
          <a:prstGeom xmlns:a="http://schemas.openxmlformats.org/drawingml/2006/main" prst="roundRect">
            <a:avLst>
              <a:gd name="adj" fmla="val 8421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5A8E3D-B580-4B48-8BA3-D658E2B87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76800"/>
            <a:ext cx="2571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LISCON["*"]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A75326-FA3E-4C3E-8330-55302496F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76800"/>
            <a:ext cx="7334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consulta las convocatorias y devuelve el resultado por correo</a:t>
            </a:r>
          </a:p>
        </p:txBody>
      </p:sp>
    </p:spTree>
    <p:extLst>
      <p:ext uri="{BB962C8B-B14F-4D97-AF65-F5344CB8AC3E}">
        <p14:creationId xmlns:p14="http://schemas.microsoft.com/office/powerpoint/2010/main" val="598832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81415A-C47B-48CF-B349-C9710A20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628B63-F986-4497-888E-EA712417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Flujo de ejecución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9BA578-FAC1-49AD-B602-D21053B8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87B89-FC14-46AF-8FF8-24CF71EB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E23F5-20A3-4E17-9A1B-979BD71D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63759-AE50-4E1E-87A3-BD0B9EB1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F4A6F4-36C3-4153-A870-E51CE9FD9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1D4C54-7EFE-4A9D-95E5-D3A6F3D0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Gmail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A5911-9291-4B3E-B229-AC8CD3EBF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Asunto con la orden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0C3863-F5C5-4692-8D34-A10EDF01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6D4711-84A2-40F8-9F18-5D0AB9638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641DDC-F4E2-4E7A-843D-6C759925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6FB000-BE6C-408A-8C8E-382C6CC4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 HTTPS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6620B-1256-4E6B-8159-835E86F3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Lectura cifrada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9205B7-7100-4500-AC3F-9A224BAB3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41A163-B8B6-4747-9572-5412447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2F75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824CB-8F8B-488F-812D-D33D16EDB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AA46B1-E3EE-4395-8BA5-31B92E33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DF6E47-E16F-4B73-A801-71986E47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Sintaxis, confirmación y permisos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EBE7F2-102B-4591-AE40-A144E5FC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17B562-73EF-4CF5-901B-B6E892C7F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960C11-5B00-4865-A580-B71D0496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6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92FD8D-0820-4EC7-849A-85EFA231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PostgreSQL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1ED7AD-267E-46C9-A934-40765134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Consulta o transacción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EE10F3-574B-4769-A9DD-4B67C6D3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76550"/>
            <a:ext cx="28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3150" b="1">
                <a:solidFill>
                  <a:srgbClr val="2F75B5"/>
                </a:solidFill>
              </a:defRPr>
            </a:pPr>
            <a:r>
              <a:rPr sz="3150" b="1">
                <a:solidFill>
                  <a:srgbClr val="2F75B5"/>
                </a:solidFill>
              </a:rPr>
              <a:t>›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BBB6C9-A547-43F3-B892-106B66B6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190750"/>
            <a:ext cx="20002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2497B6-560C-4E4F-ADC6-58B4AF53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33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6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FC58583-28FD-47FC-864E-E005CEB8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29527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Roundcube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F29E454-DA74-4F48-B628-51F02E51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29000"/>
            <a:ext cx="16573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125" b="0">
                <a:solidFill>
                  <a:srgbClr val="52606D"/>
                </a:solidFill>
              </a:defRPr>
            </a:pPr>
            <a:r>
              <a:rPr sz="1125" b="0">
                <a:solidFill>
                  <a:srgbClr val="52606D"/>
                </a:solidFill>
              </a:rPr>
              <a:t>Respuesta institucional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76DC1C-CD9A-4EE1-91DE-5892E02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762500"/>
            <a:ext cx="895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B7F5A"/>
                </a:solidFill>
              </a:defRPr>
            </a:pPr>
            <a:r>
              <a:rPr sz="1500" b="1">
                <a:solidFill>
                  <a:srgbClr val="1B7F5A"/>
                </a:solidFill>
              </a:rPr>
              <a:t>El registro persistente evita repetir cambios de negocio.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6DCBFF-837B-41BF-9E9C-80A693135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FC94C4-C4A5-48EB-879E-BCED86609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073F47-8866-40A5-89B8-BDDFC281F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A2CBB5-9AEE-412B-AD68-E82496D8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8036F2-ED54-4805-AFB9-DE1D9444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352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978840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7966BE-F6E7-4275-9F29-0D657EFD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FB1E23-50DD-4A7D-9FEF-522B2C17A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Cobertura de los ocho casos de uso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7C285-556E-4584-9900-737C0E64F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2FEFA4-82AE-4A56-A8AF-5C2433FB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78E81D-EE1A-4A20-AA0E-EBBD488E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B71A4-6E2E-4019-9D18-D71B7AE8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AEDBFE-3EE6-458F-B62F-F3C2FAE40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6F4804-81BD-4291-9CC4-0CB86EAA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Usuarios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C2BB1D-7F87-45DC-B23D-9F77B266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INSUSU  LISUSU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EA105-2A6A-492F-A1F1-4A262598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B57D8-0EE4-4A99-9874-ABABA42E9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E26364-2D6B-4C6A-87C2-681CF630D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Convocatorias y cargos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6382CB-BF84-4A1E-885E-D348C249E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INSCON  LISCON  INSCAR  LISCAR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6DB17E-42F5-4C87-A7F6-2EF69AD0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3F3552-0036-4B62-8296-78A6D200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306799-F3C0-42AF-9F97-39066BACA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Postulación y expediente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032C06-B080-4C76-A1C7-10EE16EE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INSPOST  LISPOST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27C986-193D-44CE-978C-39E77C4D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61E86-E1D5-4344-8AE7-329AE3F4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2F9C5D-DC48-438C-9034-8BF1A8891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Requisitos y habilitación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9F1C82-E386-43FD-BB1F-ECD6E32C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EVAREQ  HABPOS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63CF40-3825-4DD3-BE35-B80E53971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6668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6B93FD-0BE2-4943-B4DB-7E88AA58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8288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C542D6-022C-4369-B101-639D4F30C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811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Méritos, examen y evaluadores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D586BC-4DD2-4F26-8730-BB6FB59E0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114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REGMER  REGEXA  ASIEVA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573DFC1-3758-4A8A-AB53-B9E3F977D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7336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B4947F-A5C9-4EC9-AEFD-07AAC150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8956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0B8830-0F8E-4394-93B2-A843E4C1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8479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Ranking y plazas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294660-AB5F-458A-853B-5BC2B20B6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1813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GENRAN  ASIPLA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ACC3700-B505-4E96-8435-47866463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8004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ED500C-6F23-4F19-998A-099C902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9624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4B37609-9F39-435E-BCB6-656C4D3D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9147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Auditoría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5DC5D8-4D67-4878-9360-AE854745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248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AUDCAL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5673E3-2CB6-4F4D-A552-E66FDB0D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867275"/>
            <a:ext cx="5095875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A3B528A-A47F-4E07-A5DC-CD43345B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029200"/>
            <a:ext cx="619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CU8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B6B3C0-530C-457A-9695-16A8A21C4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9815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6202A"/>
                </a:solidFill>
              </a:defRPr>
            </a:pPr>
            <a:r>
              <a:rPr sz="1350" b="1">
                <a:solidFill>
                  <a:srgbClr val="16202A"/>
                </a:solidFill>
              </a:rPr>
              <a:t>Reportes y estadísticas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FED0E1-9F5E-4F5D-8040-397C74E4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53149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050" b="0">
                <a:solidFill>
                  <a:srgbClr val="52606D"/>
                </a:solidFill>
              </a:defRPr>
            </a:pPr>
            <a:r>
              <a:rPr sz="1050" b="0">
                <a:solidFill>
                  <a:srgbClr val="52606D"/>
                </a:solidFill>
              </a:rPr>
              <a:t>REPEST</a:t>
            </a:r>
          </a:p>
        </p:txBody>
      </p:sp>
    </p:spTree>
    <p:extLst>
      <p:ext uri="{BB962C8B-B14F-4D97-AF65-F5344CB8AC3E}">
        <p14:creationId xmlns:p14="http://schemas.microsoft.com/office/powerpoint/2010/main" val="3995489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004C79-1B60-4852-B22D-842F920A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5C5106-4820-4717-828E-70891A3A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Validación y control de acceso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0F153F-5DC9-4F9B-84AE-06EA2B9E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5ED0E-1535-4547-9023-BCB29088F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0E66C6-BAF3-4EE2-8577-8B648D8A1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E8C6A5-ECEF-47C9-90AF-AEE12A4FA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1C251-E744-4245-AA29-3DD15A05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D44825-3AA5-49B5-ABC0-0B016323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Sintaxis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D0B832-251F-45A0-988B-3CA3BC59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COMANDO["parámetro"]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Rechaza comas finales, asuntos incompletos y valores sin comillas.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DBB76-A691-4C95-963A-7B8D20803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726C1-F651-4EBE-AEC7-29E710761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37E8F2-7D05-43F0-BEE1-6E117072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Datos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0DF2C-4568-4465-84DB-DCF6095C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Fechas ISO, enteros positivos, puntajes de 0 a 100, correo válido y estados permitidos.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D939EF-FCFE-4C5F-850D-8AEAF3E1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3333750" cy="2667000"/>
          </a:xfrm>
          <a:prstGeom xmlns:a="http://schemas.openxmlformats.org/drawingml/2006/main" prst="roundRect">
            <a:avLst>
              <a:gd name="adj" fmla="val 2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EE4498-62FF-47AC-BD01-7B15C569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62125"/>
            <a:ext cx="66675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3A1E4-952E-4705-82C2-7A6B11C6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14525"/>
            <a:ext cx="2971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Permisos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BB6F1D-1450-450F-91EE-8A8FBFEE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238375"/>
            <a:ext cx="29718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Las órdenes privadas requieren CONFIRMAR["codigo"]. Verificamos la cuenta y el rol vigente.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144603-3AA1-4FBF-9924-0DA317E3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53000"/>
            <a:ext cx="9334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buNone/>
              <a:defRPr sz="1575" b="1">
                <a:solidFill>
                  <a:srgbClr val="17365D"/>
                </a:solidFill>
              </a:defRPr>
            </a:pPr>
            <a:r>
              <a:rPr sz="1575" b="1">
                <a:solidFill>
                  <a:srgbClr val="17365D"/>
                </a:solidFill>
              </a:rPr>
              <a:t>El código confirma solo la orden original y se consume con la transacción.</a:t>
            </a:r>
          </a:p>
        </p:txBody>
      </p:sp>
    </p:spTree>
    <p:extLst>
      <p:ext uri="{BB962C8B-B14F-4D97-AF65-F5344CB8AC3E}">
        <p14:creationId xmlns:p14="http://schemas.microsoft.com/office/powerpoint/2010/main" val="83073596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06E35B-5503-4849-9F5D-251CFB0B6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04E6E4-07CB-4CCA-A9E2-4C5949F5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Modelo de datos del proyecto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421F20-DD0C-43C2-B87B-A401077C9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42C2FF-637F-4D50-A673-DE676F575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6B0A6F-B88D-49CE-AA23-A7F25EE5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9CDA1-F176-4407-B592-8575E826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809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4CB28-322D-43E7-985E-A6BA09BC5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1905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p1_usuario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DD1F2-EAD8-46CD-8DB8-B87691B7B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5750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4ADCEB-5880-46CD-AC67-8B19074B7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95275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p1_convocatoria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DB3F72-22BE-4951-8486-C8D486BA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052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6B4CF6-09B4-41E2-93D0-0237D2952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0005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p1_cargo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936A6-C46A-4345-8915-67A2FCF4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714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17365D"/>
          </a:solidFill>
          <a:ln xmlns:a="http://schemas.openxmlformats.org/drawingml/2006/main" w="9525">
            <a:solidFill>
              <a:srgbClr val="17365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404125-2E83-485B-905B-937C5CC2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2809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p1_postulacion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083132-BA7C-49A2-9BF6-A637CB31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15716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3E62A1-F451-4B32-B4D3-B5621E265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16668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p1_expediente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8D576D-E949-4227-9E44-458BA5142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4288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3D3F32-3FA1-4F00-B14C-B830AC28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5241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p1_evaluacion_requisito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FE715-1A9E-49DA-B189-65C59B81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28612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E20373-737E-4103-8185-BC71C159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338137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p1_merito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7048F4-EC5D-4DFA-B2DA-DE3F83D5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143375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7CB632-60B2-4AC2-A7A0-FB2FF6CE6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238625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p1_examen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31F38A-E9D7-4253-A8FF-949B05E12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257175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0E9855-0B66-4D8A-B1AC-C78C837F5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953000"/>
            <a:ext cx="2343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6202A"/>
                </a:solidFill>
              </a:defRPr>
            </a:pPr>
            <a:r>
              <a:rPr sz="1425" b="1">
                <a:solidFill>
                  <a:srgbClr val="16202A"/>
                </a:solidFill>
              </a:rPr>
              <a:t>p1_auditoria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3DBFE7-43F6-4D83-92C8-37AC4A5B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524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usuarios, convocatorias y cargos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34CB3B-66B3-4727-8D38-507D0F08B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4766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17365D"/>
                </a:solidFill>
              </a:defRPr>
            </a:pPr>
            <a:r>
              <a:rPr sz="975" b="1">
                <a:solidFill>
                  <a:srgbClr val="17365D"/>
                </a:solidFill>
              </a:rPr>
              <a:t>postulación central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5F7E5E-E56D-49A8-97F9-1AF8003BE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857375"/>
            <a:ext cx="133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75" b="0">
                <a:solidFill>
                  <a:srgbClr val="52606D"/>
                </a:solidFill>
              </a:defRPr>
            </a:pPr>
            <a:r>
              <a:rPr sz="975" b="0">
                <a:solidFill>
                  <a:srgbClr val="52606D"/>
                </a:solidFill>
              </a:rPr>
              <a:t>expediente, requisitos y notas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593A14E-2408-42D5-8E13-D6FAC5DA7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810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B7F5A"/>
                </a:solidFill>
              </a:defRPr>
            </a:pPr>
            <a:r>
              <a:rPr sz="1425" b="1">
                <a:solidFill>
                  <a:srgbClr val="1B7F5A"/>
                </a:solidFill>
              </a:rPr>
              <a:t>Puntaje final = 40 % méritos + 60 % promedio de examen</a:t>
            </a:r>
          </a:p>
        </p:txBody>
      </p:sp>
    </p:spTree>
    <p:extLst>
      <p:ext uri="{BB962C8B-B14F-4D97-AF65-F5344CB8AC3E}">
        <p14:creationId xmlns:p14="http://schemas.microsoft.com/office/powerpoint/2010/main" val="20190140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114A9B-BE67-4672-8A00-49BC6904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75F5F0-EF9D-4920-B78D-CCF04BD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 institucional anterior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9E3D1F-7963-4D47-9745-172FD464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710674-543B-48AB-8D05-52C3961E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86307F-C337-40D7-B8D4-D905B6F6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7770F0-3FC0-4A85-8FBB-80036A87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66687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EACD3D-ED4D-4E7C-9757-48695E5A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907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FD354E-D940-4FEC-A30D-4C775EC7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78117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envió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C9431-559B-4C31-BF03-D57ECDE4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78117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AYUDA[] y LISCON["*"]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DD9FD3-95E6-494C-AC30-EB264382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6700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F3355E-2DD3-415A-B9B5-E667855F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908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DF60E3-5AD1-40E5-885F-2A9C2FEF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Java procesó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EE7850-B024-4B55-9846-0F7E0131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8130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Identificó UID nuevos y consultó PostgreSQL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E59DCA-F838-47D5-86D2-FA5144F0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67125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AF1F8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97D453-2D5C-4FF7-9E3D-3263FB15E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7909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384D95-2909-44C2-B3DD-667B36C64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781425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Tecnoweb respondió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65F79B-D3F3-40E3-A647-5D8AD04A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781425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ÉXITO - Orden procesada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B65F26-2556-4C95-911D-9AD7A3EDD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019175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416634-B0E6-4F4C-8587-5440A4551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7910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803C189-28A8-4665-826D-4E9610232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7815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Gmail recibió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CDFB6B-D704-4EC7-ABBD-44E56881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781550"/>
            <a:ext cx="6381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75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75" b="0">
                <a:solidFill>
                  <a:srgbClr val="52606D"/>
                </a:solidFill>
              </a:defRPr>
            </a:pPr>
            <a:r>
              <a:rPr sz="1275" b="0">
                <a:solidFill>
                  <a:srgbClr val="52606D"/>
                </a:solidFill>
              </a:rPr>
              <a:t>Catálogo de órdenes y Sin resultados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146365-DBB2-4020-A4EB-CE0872FC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81025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B7F5A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B7F5A"/>
                </a:solidFill>
              </a:defRPr>
            </a:pPr>
            <a:r>
              <a:rPr sz="1350" b="1">
                <a:solidFill>
                  <a:srgbClr val="1B7F5A"/>
                </a:solidFill>
              </a:rPr>
              <a:t>Resultado comprobado el 12 de octubre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DECBC9-6DD2-4D99-A8B3-09129B7F4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8097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DAB177-A56A-49AF-9D59-7C57D959C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0987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EA4B01-D6DB-4410-A9CD-792965E9F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81000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AAB437-6D0D-4D7D-94FE-95D272B0E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810125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buNone/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9656840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3516A8-5003-450E-847A-AFBA726C0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F184FD-2FF7-4F63-A2D9-7F184C0F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Pruebas y actualización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1790B9-2668-4357-AB19-F4C990EF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523A9-188B-4167-BD13-0F886B9C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CF3A46-B567-41B2-BDB3-25FC9CC5E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378690-1772-47C0-BCD0-B223DC2E9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E7785F-C8BA-4BDE-B726-042D63AF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D409D9-CEFF-449E-B794-B04653F0D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Recorrido local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9238A-E5FD-4492-843D-CF2E4E28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Verificamos los ocho casos de uso con PostgreSQL 15 aislado y confirmaciones.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45DA54-A87A-4D5A-A572-9028B5A16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8097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B99661-140D-4CA2-903B-F0EBEEBEB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58C9D-9130-4612-8CAE-69272A01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962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Actualización institucional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CE349E-2DAF-433F-B1BB-B65069108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8600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Pendiente aplicar la migración y reiniciar el servicio con las credenciales del grupo.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04ACF-1C11-4BFE-B4EB-C7900B6A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4E3F74-C518-41B3-8B95-105618B8F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20"/>
          </a:solidFill>
          <a:ln xmlns:a="http://schemas.openxmlformats.org/drawingml/2006/main" w="0">
            <a:solidFill>
              <a:srgbClr val="D99A2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DF9684-921E-41A2-BCDD-AE46A55F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Primera recepción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4BB9D-D8F4-42CC-BB1A-AB0D3262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Gmail clasificó el remitente nuevo como Spam. La entrega no falló.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AFE111-5C9C-41CC-B81C-685E45A8A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4762500" cy="14287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78C0C5-6871-4363-B0CF-72360FA6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9575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0C3989-AE56-4764-9A36-43E3EC5B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248150"/>
            <a:ext cx="4400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Identidad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7791B1-B1A4-4966-93AC-B2DAE34F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572000"/>
            <a:ext cx="4400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 09 SA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grupo09sa@tecnoweb.org.bo</a:t>
            </a:r>
          </a:p>
        </p:txBody>
      </p:sp>
    </p:spTree>
    <p:extLst>
      <p:ext uri="{BB962C8B-B14F-4D97-AF65-F5344CB8AC3E}">
        <p14:creationId xmlns:p14="http://schemas.microsoft.com/office/powerpoint/2010/main" val="137358584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6C4C34-153B-4F7F-BEA3-6BE6BFC7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5978E-FF57-4EDD-A7C4-31A6362BE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Errores y caídas controladas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6B7622-A15F-4A8B-915A-6196C825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DB055C-A073-4EEE-93D3-9D7C3AC6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406413-657C-41E2-ABE4-C75096AC9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D6DD7B-D284-4D32-A402-97E7514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49DDAD-C269-44B1-95BA-D8FC1396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Letra, NaN o dato fuera de rango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E71FE5-CF7B-459F-8354-18319C7C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Rechaza la orden antes de ejecutar SQL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2D5A70-31D9-480B-ACE2-B08EFD78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1462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3BE86-8E06-4F19-A410-C9E03EA2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0987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PostgreSQL fuera de línea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6C232-466C-4936-9872-342BC910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80987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Conserva el correo y reintenta con espera creciente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31D81-0A40-4710-9412-2B0D44554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B2BCBE-2786-4E2A-8628-DF9D0E3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Dos instancias activas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5D2E6A-A85C-4595-9867-D7655406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10000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PostgreSQL concede el procesamiento a una sola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820375-664C-4052-AA8E-F8BB010E5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10477500" cy="74295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81EDE5-CBF9-45E0-8893-97C7988F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4953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425" b="1">
                <a:solidFill>
                  <a:srgbClr val="B42318"/>
                </a:solidFill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B42318"/>
                </a:solidFill>
              </a:defRPr>
            </a:pPr>
            <a:r>
              <a:rPr sz="1425" b="1">
                <a:solidFill>
                  <a:srgbClr val="B42318"/>
                </a:solidFill>
              </a:rPr>
              <a:t>Correo repetido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CC213C-B91E-45B1-8502-AA44C752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810125"/>
            <a:ext cx="4381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2606D"/>
                </a:solidFill>
              </a:defRPr>
            </a:pPr>
            <a:r>
              <a:rPr sz="1350" b="0">
                <a:solidFill>
                  <a:srgbClr val="52606D"/>
                </a:solidFill>
              </a:rPr>
              <a:t>El identificador evita ejecutar dos veces la operación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85A778-175A-4DC9-B9D8-92F6E2BC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57875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buNone/>
              <a:defRPr sz="1350" b="1">
                <a:solidFill>
                  <a:srgbClr val="17365D"/>
                </a:solidFill>
              </a:defRPr>
            </a:pPr>
            <a:r>
              <a:rPr sz="1350" b="1">
                <a:solidFill>
                  <a:srgbClr val="17365D"/>
                </a:solidFill>
              </a:rPr>
              <a:t>50 pruebas automatizadas aprobadas en Windows con PostgreSQL 15 local.</a:t>
            </a:r>
          </a:p>
        </p:txBody>
      </p:sp>
    </p:spTree>
    <p:extLst>
      <p:ext uri="{BB962C8B-B14F-4D97-AF65-F5344CB8AC3E}">
        <p14:creationId xmlns:p14="http://schemas.microsoft.com/office/powerpoint/2010/main" val="109100257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28401-136F-470A-9EDB-244B3461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975" b="1">
                <a:solidFill>
                  <a:srgbClr val="2F75B5"/>
                </a:solidFill>
              </a:defRPr>
            </a:pPr>
            <a:r>
              <a:rPr sz="975" b="1">
                <a:solidFill>
                  <a:srgbClr val="2F75B5"/>
                </a:solidFill>
              </a:rPr>
              <a:t>PROYECTO 1   INF513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87C48-1CFF-44E6-9257-F2B3D0D3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55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6202A"/>
                </a:solidFill>
              </a:defRPr>
            </a:pPr>
            <a:r>
              <a:rPr sz="2550" b="1">
                <a:solidFill>
                  <a:srgbClr val="16202A"/>
                </a:solidFill>
              </a:rPr>
              <a:t>Conclusión y defensa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FB1768-FF92-4819-A590-7DB78065C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23A35-297C-4926-B594-1B721A9C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Grupo 09 SA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875987-0F22-4DEE-983B-6A17D08E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865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900" b="0">
                <a:solidFill>
                  <a:srgbClr val="52606D"/>
                </a:solidFill>
              </a:defRPr>
            </a:pPr>
            <a:r>
              <a:rPr sz="900" b="0">
                <a:solidFill>
                  <a:srgbClr val="52606D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83E2BF-FADD-443F-BC43-079AF39F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62125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400" b="1">
                <a:solidFill>
                  <a:srgbClr val="17365D"/>
                </a:solidFill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7365D"/>
                </a:solidFill>
              </a:defRPr>
            </a:pPr>
            <a:r>
              <a:rPr sz="2400" b="1">
                <a:solidFill>
                  <a:srgbClr val="17365D"/>
                </a:solidFill>
              </a:rPr>
              <a:t>El sistema cumple el ciclo y se recupera de cortes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0CBD83-57C3-4D94-ABC3-33839BA0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812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2F75B5"/>
                </a:solidFill>
              </a:defRPr>
            </a:defPPr>
          </a:lstStyle>
          <a:p xmlns:a="http://schemas.openxmlformats.org/drawingml/2006/main">
            <a:pPr>
              <a:buNone/>
              <a:defRPr sz="1650" b="1">
                <a:solidFill>
                  <a:srgbClr val="2F75B5"/>
                </a:solidFill>
              </a:defRPr>
            </a:pPr>
            <a:r>
              <a:rPr sz="1650" b="1">
                <a:solidFill>
                  <a:srgbClr val="2F75B5"/>
                </a:solidFill>
              </a:rPr>
              <a:t>correo entrante  ›  validación  ›  PostgreSQL  ›  respuesta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774198-7519-4A81-99CD-6D67DEC2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2AE05D-B677-4931-8973-116440F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5B5"/>
          </a:solidFill>
          <a:ln xmlns:a="http://schemas.openxmlformats.org/drawingml/2006/main" w="0">
            <a:solidFill>
              <a:srgbClr val="2F75B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B8828-F469-4965-999D-C6386666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Defensa de 15 a 20 minutos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0B69D-7203-4700-9EA7-CB3CE67D3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1. Explicar el asunto y CONFIRMAR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2. Iniciar el servicio Java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3. Mostrar consultas y cambios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4. Mostrar cola y auditoría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1B67C5-D9D7-4150-AF6E-F242CFA3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4953000" cy="2190750"/>
          </a:xfrm>
          <a:prstGeom xmlns:a="http://schemas.openxmlformats.org/drawingml/2006/main" prst="roundRect">
            <a:avLst>
              <a:gd name="adj" fmla="val 26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11DE34-3D0D-4A30-9032-A779801F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333750"/>
            <a:ext cx="66675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7F5A"/>
          </a:solidFill>
          <a:ln xmlns:a="http://schemas.openxmlformats.org/drawingml/2006/main" w="0">
            <a:solidFill>
              <a:srgbClr val="1B7F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8AF1C5-D7FC-44AC-B272-E893153E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486150"/>
            <a:ext cx="4591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500" b="1">
                <a:solidFill>
                  <a:srgbClr val="16202A"/>
                </a:solidFill>
              </a:defRPr>
            </a:pPr>
            <a:r>
              <a:rPr sz="1500" b="1">
                <a:solidFill>
                  <a:srgbClr val="16202A"/>
                </a:solidFill>
              </a:rPr>
              <a:t>Resistencia y entrega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1D6172-A226-408B-9AA4-E8FEEFC5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810000"/>
            <a:ext cx="4591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52606D"/>
                </a:solidFill>
              </a:defRPr>
            </a:defPPr>
          </a:lstStyle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Confirmación por correo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Cola durable y reintentos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Scripts Windows y Linux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Informe, presentación y código</a:t>
            </a:r>
          </a:p>
          <a:p xmlns:a="http://schemas.openxmlformats.org/drawingml/2006/main">
            <a:pPr>
              <a:buNone/>
              <a:defRPr sz="1200" b="0">
                <a:solidFill>
                  <a:srgbClr val="52606D"/>
                </a:solidFill>
              </a:defRPr>
            </a:pPr>
            <a:r>
              <a:rPr sz="1200" b="0">
                <a:solidFill>
                  <a:srgbClr val="52606D"/>
                </a:solidFill>
              </a:rPr>
              <a:t>ZIP y TAR.GZ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53E6F-D993-4A3D-AFE5-7FE2E43BC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9055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1">
                <a:solidFill>
                  <a:srgbClr val="16202A"/>
                </a:solidFill>
              </a:defRPr>
            </a:defPPr>
          </a:lstStyle>
          <a:p xmlns:a="http://schemas.openxmlformats.org/drawingml/2006/main">
            <a:pPr>
              <a:buNone/>
              <a:defRPr sz="1800" b="1">
                <a:solidFill>
                  <a:srgbClr val="16202A"/>
                </a:solidFill>
              </a:defRPr>
            </a:pPr>
            <a:r>
              <a:rPr sz="1800" b="1">
                <a:solidFill>
                  <a:srgbClr val="16202A"/>
                </a:solidFill>
              </a:rPr>
              <a:t>Grupo 09 SA</a:t>
            </a:r>
          </a:p>
        </p:txBody>
      </p:sp>
    </p:spTree>
    <p:extLst>
      <p:ext uri="{BB962C8B-B14F-4D97-AF65-F5344CB8AC3E}">
        <p14:creationId xmlns:p14="http://schemas.microsoft.com/office/powerpoint/2010/main" val="4165322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2026-10-13T04:01:58.4450000Z</dcterms:created>
  <dcterms:modified xsi:type="dcterms:W3CDTF">2026-10-13T04:01:58.4450000Z</dcterms:modified>
</coreProperties>
</file>